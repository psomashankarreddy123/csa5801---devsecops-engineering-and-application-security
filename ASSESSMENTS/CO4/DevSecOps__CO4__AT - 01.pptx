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91440"/>
            <a:ext cx="1154887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DevSecOps Secure Infrastructure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530352"/>
            <a:ext cx="8001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263238"/>
                </a:solidFill>
                <a:latin typeface="Aptos"/>
              </a:rPr>
              <a:t>Secure by Design  •  Automate Everything  •  Monitor Continuously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832103"/>
            <a:ext cx="106070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878C8"/>
                </a:solidFill>
                <a:latin typeface="Aptos"/>
              </a:rPr>
              <a:t>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52336" y="1037844"/>
            <a:ext cx="1181136" cy="10469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21861" y="1100167"/>
            <a:ext cx="524256" cy="542510"/>
          </a:xfrm>
          <a:prstGeom prst="ellipse">
            <a:avLst/>
          </a:prstGeom>
          <a:solidFill>
            <a:srgbClr val="2878C8"/>
          </a:solidFill>
          <a:ln>
            <a:solidFill>
              <a:srgbClr val="28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59861" y="1080719"/>
            <a:ext cx="219456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52335" y="1628305"/>
            <a:ext cx="123142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dirty="0">
                <a:solidFill>
                  <a:srgbClr val="263238"/>
                </a:solidFill>
                <a:latin typeface="Aptos"/>
              </a:rPr>
              <a:t>Requirements
&amp; Threat Modeling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33472" y="1581912"/>
            <a:ext cx="155448" cy="0"/>
          </a:xfrm>
          <a:prstGeom prst="line">
            <a:avLst/>
          </a:prstGeom>
          <a:ln w="1524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816352" y="832103"/>
            <a:ext cx="106070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878C8"/>
                </a:solidFill>
                <a:latin typeface="Aptos"/>
              </a:rPr>
              <a:t>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6352" y="1078992"/>
            <a:ext cx="1060704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078674" y="1149818"/>
            <a:ext cx="514917" cy="544528"/>
          </a:xfrm>
          <a:prstGeom prst="ellipse">
            <a:avLst/>
          </a:prstGeom>
          <a:solidFill>
            <a:srgbClr val="2878C8"/>
          </a:solidFill>
          <a:ln>
            <a:solidFill>
              <a:srgbClr val="28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95828" y="1129121"/>
            <a:ext cx="301751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2399" y="1622501"/>
            <a:ext cx="1008610" cy="4308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 dirty="0">
                <a:solidFill>
                  <a:srgbClr val="263238"/>
                </a:solidFill>
                <a:latin typeface="Aptos"/>
              </a:rPr>
              <a:t>Source Code
Commit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77056" y="1581912"/>
            <a:ext cx="155448" cy="0"/>
          </a:xfrm>
          <a:prstGeom prst="line">
            <a:avLst/>
          </a:prstGeom>
          <a:ln w="1524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059935" y="832103"/>
            <a:ext cx="106070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878C8"/>
                </a:solidFill>
                <a:latin typeface="Aptos"/>
              </a:rPr>
              <a:t>BUILD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59935" y="1078992"/>
            <a:ext cx="1060704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309674" y="1119932"/>
            <a:ext cx="561225" cy="530351"/>
          </a:xfrm>
          <a:prstGeom prst="ellipse">
            <a:avLst/>
          </a:prstGeom>
          <a:solidFill>
            <a:srgbClr val="2878C8"/>
          </a:solidFill>
          <a:ln>
            <a:solidFill>
              <a:srgbClr val="28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76149" y="1096803"/>
            <a:ext cx="25033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6828" y="1622501"/>
            <a:ext cx="1386918" cy="4308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 dirty="0">
                <a:solidFill>
                  <a:srgbClr val="263238"/>
                </a:solidFill>
                <a:latin typeface="Aptos"/>
              </a:rPr>
              <a:t>Build &amp;
Dependency </a:t>
            </a:r>
            <a:r>
              <a:rPr sz="1100" b="1" dirty="0" err="1">
                <a:solidFill>
                  <a:srgbClr val="263238"/>
                </a:solidFill>
                <a:latin typeface="Aptos"/>
              </a:rPr>
              <a:t>Mgmt</a:t>
            </a:r>
            <a:endParaRPr sz="1100" b="1" dirty="0">
              <a:solidFill>
                <a:srgbClr val="263238"/>
              </a:solidFill>
              <a:latin typeface="Aptos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120640" y="1581912"/>
            <a:ext cx="155448" cy="0"/>
          </a:xfrm>
          <a:prstGeom prst="line">
            <a:avLst/>
          </a:prstGeom>
          <a:ln w="1524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303520" y="832103"/>
            <a:ext cx="106070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68C8C"/>
                </a:solidFill>
                <a:latin typeface="Aptos"/>
              </a:rPr>
              <a:t>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0" y="1078992"/>
            <a:ext cx="1060704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558693" y="1139705"/>
            <a:ext cx="566927" cy="542510"/>
          </a:xfrm>
          <a:prstGeom prst="ellipse">
            <a:avLst/>
          </a:prstGeom>
          <a:solidFill>
            <a:srgbClr val="168C8C"/>
          </a:solidFill>
          <a:ln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77427" y="1139705"/>
            <a:ext cx="31288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3731" y="1622501"/>
            <a:ext cx="1260281" cy="4308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 dirty="0">
                <a:solidFill>
                  <a:srgbClr val="263238"/>
                </a:solidFill>
                <a:latin typeface="Aptos"/>
              </a:rPr>
              <a:t>Unit /
Integration Tests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364224" y="1581912"/>
            <a:ext cx="155448" cy="0"/>
          </a:xfrm>
          <a:prstGeom prst="line">
            <a:avLst/>
          </a:prstGeom>
          <a:ln w="1524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47103" y="832103"/>
            <a:ext cx="106070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E8B57"/>
                </a:solidFill>
                <a:latin typeface="Aptos"/>
              </a:rPr>
              <a:t>SECURE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47103" y="1078992"/>
            <a:ext cx="1060704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778752" y="1108525"/>
            <a:ext cx="566928" cy="542510"/>
          </a:xfrm>
          <a:prstGeom prst="ellipse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33885" y="1111684"/>
            <a:ext cx="287139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1323" y="1622501"/>
            <a:ext cx="1252267" cy="4308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 dirty="0">
                <a:solidFill>
                  <a:srgbClr val="263238"/>
                </a:solidFill>
                <a:latin typeface="Aptos"/>
              </a:rPr>
              <a:t>SAST / DAST
Secrets / Quality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607807" y="1581912"/>
            <a:ext cx="155448" cy="0"/>
          </a:xfrm>
          <a:prstGeom prst="line">
            <a:avLst/>
          </a:prstGeom>
          <a:ln w="1524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790688" y="832103"/>
            <a:ext cx="106070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28C28"/>
                </a:solidFill>
                <a:latin typeface="Aptos"/>
              </a:rPr>
              <a:t>DEPLOY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90688" y="1078992"/>
            <a:ext cx="1060704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996427" y="1109013"/>
            <a:ext cx="594361" cy="580644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73694" y="1094712"/>
            <a:ext cx="19109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83874" y="1622501"/>
            <a:ext cx="1074333" cy="4308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 dirty="0">
                <a:solidFill>
                  <a:srgbClr val="263238"/>
                </a:solidFill>
                <a:latin typeface="Aptos"/>
              </a:rPr>
              <a:t>Deploy to
Environments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851392" y="1581912"/>
            <a:ext cx="155448" cy="0"/>
          </a:xfrm>
          <a:prstGeom prst="line">
            <a:avLst/>
          </a:prstGeom>
          <a:ln w="1524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034272" y="832103"/>
            <a:ext cx="106070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F42C1"/>
                </a:solidFill>
                <a:latin typeface="Aptos"/>
              </a:rPr>
              <a:t>OPERATE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34272" y="1078992"/>
            <a:ext cx="1060704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299595" y="1119932"/>
            <a:ext cx="566928" cy="594361"/>
          </a:xfrm>
          <a:prstGeom prst="ellipse">
            <a:avLst/>
          </a:prstGeom>
          <a:solidFill>
            <a:srgbClr val="6F42C1"/>
          </a:solidFill>
          <a:ln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468611" y="1130843"/>
            <a:ext cx="246887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66117" y="1663087"/>
            <a:ext cx="833883" cy="4308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 dirty="0">
                <a:solidFill>
                  <a:srgbClr val="263238"/>
                </a:solidFill>
                <a:latin typeface="Aptos"/>
              </a:rPr>
              <a:t>Operate &amp;
Manage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094976" y="1581912"/>
            <a:ext cx="155448" cy="0"/>
          </a:xfrm>
          <a:prstGeom prst="line">
            <a:avLst/>
          </a:prstGeom>
          <a:ln w="1524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277856" y="832103"/>
            <a:ext cx="106070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C92A5B"/>
                </a:solidFill>
                <a:latin typeface="Aptos"/>
              </a:rPr>
              <a:t>MONITOR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277856" y="1078992"/>
            <a:ext cx="1060704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2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0501978" y="1129121"/>
            <a:ext cx="605775" cy="546885"/>
          </a:xfrm>
          <a:prstGeom prst="ellipse">
            <a:avLst/>
          </a:prstGeom>
          <a:solidFill>
            <a:srgbClr val="C92A5B"/>
          </a:solidFill>
          <a:ln>
            <a:solidFill>
              <a:srgbClr val="C92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696809" y="1136976"/>
            <a:ext cx="21611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16113" y="1630195"/>
            <a:ext cx="784190" cy="4154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 dirty="0">
                <a:solidFill>
                  <a:srgbClr val="263238"/>
                </a:solidFill>
                <a:latin typeface="Aptos"/>
              </a:rPr>
              <a:t>Monitor &amp;
Feedback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103120" y="2240280"/>
            <a:ext cx="8641080" cy="0"/>
          </a:xfrm>
          <a:prstGeom prst="line">
            <a:avLst/>
          </a:prstGeom>
          <a:ln w="15240">
            <a:solidFill>
              <a:srgbClr val="287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166360" y="2267712"/>
            <a:ext cx="1874519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2878C8"/>
                </a:solidFill>
                <a:latin typeface="Aptos"/>
              </a:rPr>
              <a:t>FEEDBACK LOOP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2487168"/>
            <a:ext cx="1874519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CLOUD / VPC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89120" y="2450592"/>
            <a:ext cx="3429000" cy="438912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709160" y="2496312"/>
            <a:ext cx="2788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CLOUD / VPC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47484" y="3063240"/>
            <a:ext cx="1132676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54171" y="3143984"/>
            <a:ext cx="583814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dirty="0">
                <a:solidFill>
                  <a:srgbClr val="2878C8"/>
                </a:solidFill>
                <a:latin typeface="Aptos"/>
              </a:rPr>
              <a:t>USERS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8451" y="3808743"/>
            <a:ext cx="1113510" cy="738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 dirty="0">
                <a:solidFill>
                  <a:srgbClr val="263238"/>
                </a:solidFill>
                <a:latin typeface="Aptos"/>
              </a:rPr>
              <a:t>Developers
Ops / SRE
Security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554480" y="3063240"/>
            <a:ext cx="187451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0" name="TextBox 59"/>
          <p:cNvSpPr txBox="1"/>
          <p:nvPr/>
        </p:nvSpPr>
        <p:spPr>
          <a:xfrm>
            <a:off x="1554480" y="3182112"/>
            <a:ext cx="1874519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E8B57"/>
                </a:solidFill>
                <a:latin typeface="Aptos"/>
              </a:rPr>
              <a:t>NETWORK &amp; EDGE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71942" y="3474494"/>
            <a:ext cx="639599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dirty="0">
                <a:solidFill>
                  <a:srgbClr val="2632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WAF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280160" y="3813048"/>
            <a:ext cx="228600" cy="0"/>
          </a:xfrm>
          <a:prstGeom prst="line">
            <a:avLst/>
          </a:prstGeom>
          <a:ln w="1778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3593591" y="3063240"/>
            <a:ext cx="187451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593591" y="3182112"/>
            <a:ext cx="1874519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878C8"/>
                </a:solidFill>
                <a:latin typeface="Aptos"/>
              </a:rPr>
              <a:t>APPLICATION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34298" y="3552172"/>
            <a:ext cx="1184363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dirty="0">
                <a:solidFill>
                  <a:srgbClr val="263238"/>
                </a:solidFill>
                <a:latin typeface="Aptos"/>
              </a:rPr>
              <a:t>Load Balancer
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3474720" y="3813048"/>
            <a:ext cx="100583" cy="0"/>
          </a:xfrm>
          <a:prstGeom prst="line">
            <a:avLst/>
          </a:prstGeom>
          <a:ln w="1778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5632704" y="3063240"/>
            <a:ext cx="187451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632704" y="3182112"/>
            <a:ext cx="1874519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878C8"/>
                </a:solidFill>
                <a:latin typeface="Aptos"/>
              </a:rPr>
              <a:t>DATA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27304" y="3977640"/>
            <a:ext cx="1217834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dirty="0">
                <a:solidFill>
                  <a:srgbClr val="263238"/>
                </a:solidFill>
                <a:latin typeface="Aptos"/>
              </a:rPr>
              <a:t>Databases
Object Storage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513832" y="3813048"/>
            <a:ext cx="100584" cy="0"/>
          </a:xfrm>
          <a:prstGeom prst="line">
            <a:avLst/>
          </a:prstGeom>
          <a:ln w="1778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7671815" y="3063240"/>
            <a:ext cx="187451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671815" y="3182112"/>
            <a:ext cx="1874519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E8B57"/>
                </a:solidFill>
                <a:latin typeface="Aptos"/>
              </a:rPr>
              <a:t>SECURITY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23654" y="3367143"/>
            <a:ext cx="133897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263238"/>
                </a:solidFill>
                <a:latin typeface="Aptos"/>
              </a:rPr>
              <a:t>IAM / RBAC</a:t>
            </a:r>
            <a:r>
              <a:rPr lang="en-IN" sz="1200" b="1" dirty="0">
                <a:solidFill>
                  <a:srgbClr val="263238"/>
                </a:solidFill>
                <a:latin typeface="Aptos"/>
              </a:rPr>
              <a:t>
</a:t>
            </a:r>
            <a:r>
              <a:rPr sz="1200" b="1" dirty="0">
                <a:solidFill>
                  <a:srgbClr val="263238"/>
                </a:solidFill>
                <a:latin typeface="Aptos"/>
              </a:rPr>
              <a:t>Secrets </a:t>
            </a:r>
            <a:endParaRPr lang="en-IN" sz="1200" b="1" dirty="0">
              <a:solidFill>
                <a:srgbClr val="263238"/>
              </a:solidFill>
              <a:latin typeface="Aptos"/>
            </a:endParaRPr>
          </a:p>
        </p:txBody>
      </p:sp>
      <p:cxnSp>
        <p:nvCxnSpPr>
          <p:cNvPr id="74" name="Connector 73"/>
          <p:cNvCxnSpPr/>
          <p:nvPr/>
        </p:nvCxnSpPr>
        <p:spPr>
          <a:xfrm>
            <a:off x="7552943" y="3813048"/>
            <a:ext cx="100584" cy="0"/>
          </a:xfrm>
          <a:prstGeom prst="line">
            <a:avLst/>
          </a:prstGeom>
          <a:ln w="1778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9710928" y="3063240"/>
            <a:ext cx="187451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710928" y="3182112"/>
            <a:ext cx="1874519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F42C1"/>
                </a:solidFill>
                <a:latin typeface="Aptos"/>
              </a:rPr>
              <a:t>MONITORING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82977" y="3956347"/>
            <a:ext cx="1211550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 dirty="0">
                <a:solidFill>
                  <a:srgbClr val="263238"/>
                </a:solidFill>
                <a:latin typeface="Aptos"/>
              </a:rPr>
              <a:t>Metrics
Logs • Alerts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592055" y="3813048"/>
            <a:ext cx="100585" cy="0"/>
          </a:xfrm>
          <a:prstGeom prst="line">
            <a:avLst/>
          </a:prstGeom>
          <a:ln w="1778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320040" y="4846320"/>
            <a:ext cx="11548872" cy="126187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28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02949" y="5070350"/>
            <a:ext cx="2501710" cy="83099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 dirty="0">
                <a:solidFill>
                  <a:srgbClr val="17365D"/>
                </a:solidFill>
                <a:latin typeface="Aptos"/>
              </a:rPr>
              <a:t>DEVSECOPS</a:t>
            </a:r>
            <a:endParaRPr lang="en-IN" sz="2400" b="1" dirty="0">
              <a:solidFill>
                <a:srgbClr val="17365D"/>
              </a:solidFill>
              <a:latin typeface="Aptos"/>
            </a:endParaRPr>
          </a:p>
          <a:p>
            <a:pPr algn="ctr"/>
            <a:r>
              <a:rPr sz="2400" b="1" dirty="0">
                <a:solidFill>
                  <a:srgbClr val="17365D"/>
                </a:solidFill>
                <a:latin typeface="Aptos"/>
              </a:rPr>
              <a:t> METHODOLOGY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788920" y="5138928"/>
            <a:ext cx="135331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127248" y="5254926"/>
            <a:ext cx="893193" cy="4308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 dirty="0">
                <a:solidFill>
                  <a:srgbClr val="263238"/>
                </a:solidFill>
                <a:latin typeface="Aptos"/>
              </a:rPr>
              <a:t>SECURITY
BY DESIGN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288536" y="5138928"/>
            <a:ext cx="135331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726479" y="5285159"/>
            <a:ext cx="833883" cy="4154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 dirty="0">
                <a:solidFill>
                  <a:srgbClr val="263238"/>
                </a:solidFill>
                <a:latin typeface="Aptos"/>
              </a:rPr>
              <a:t>LEAST
PRIVILEGE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788152" y="5138928"/>
            <a:ext cx="135331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194735" y="5279373"/>
            <a:ext cx="84189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dirty="0">
                <a:solidFill>
                  <a:srgbClr val="263238"/>
                </a:solidFill>
                <a:latin typeface="Aptos"/>
              </a:rPr>
              <a:t>SHIFT-LEFT
SECURITY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287768" y="5138928"/>
            <a:ext cx="135331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498080" y="5279373"/>
            <a:ext cx="118654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dirty="0">
                <a:solidFill>
                  <a:srgbClr val="263238"/>
                </a:solidFill>
                <a:latin typeface="Aptos"/>
              </a:rPr>
              <a:t>POLICY AS CODE
(</a:t>
            </a:r>
            <a:r>
              <a:rPr sz="1000" b="1" dirty="0" err="1">
                <a:solidFill>
                  <a:srgbClr val="263238"/>
                </a:solidFill>
                <a:latin typeface="Aptos"/>
              </a:rPr>
              <a:t>IaC</a:t>
            </a:r>
            <a:r>
              <a:rPr sz="1000" b="1" dirty="0">
                <a:solidFill>
                  <a:srgbClr val="263238"/>
                </a:solidFill>
                <a:latin typeface="Aptos"/>
              </a:rPr>
              <a:t>)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787384" y="5138928"/>
            <a:ext cx="135331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078933" y="5248656"/>
            <a:ext cx="102624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dirty="0">
                <a:solidFill>
                  <a:srgbClr val="263238"/>
                </a:solidFill>
                <a:latin typeface="Aptos"/>
              </a:rPr>
              <a:t>AUTOMATE &amp;
STANDARDIZE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287000" y="5138928"/>
            <a:ext cx="135331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2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587966" y="5299327"/>
            <a:ext cx="101021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dirty="0">
                <a:solidFill>
                  <a:srgbClr val="263238"/>
                </a:solidFill>
                <a:latin typeface="Aptos"/>
              </a:rPr>
              <a:t>CONTINUOUS
MONITORING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874519" y="6473952"/>
            <a:ext cx="8458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17365D"/>
                </a:solidFill>
                <a:latin typeface="Aptos"/>
              </a:rPr>
              <a:t>Infrastructure as Code  •  Secure CI/CD  •  Automated Scanning  •  Continuous Compliance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842443" y="1243303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Segoe UI Symbol"/>
              </a:rPr>
              <a:t>☑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046720" y="1311729"/>
            <a:ext cx="58521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Segoe UI Symbol"/>
              </a:rPr>
              <a:t>&lt;/&gt;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67979" y="1257362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Segoe UI Symbol"/>
              </a:rPr>
              <a:t>⚙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23106" y="1267896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Segoe UI Symbol"/>
              </a:rPr>
              <a:t>⚗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842760" y="1268853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62722" y="1249007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Segoe UI Symbol"/>
              </a:rPr>
              <a:t>➜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363603" y="1296692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ymbol"/>
              </a:rPr>
              <a:t>⚙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564789" y="124860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Segoe UI Symbol"/>
              </a:rPr>
              <a:t>↗</a:t>
            </a:r>
          </a:p>
        </p:txBody>
      </p:sp>
      <p:sp>
        <p:nvSpPr>
          <p:cNvPr id="102" name="Oval 101"/>
          <p:cNvSpPr/>
          <p:nvPr/>
        </p:nvSpPr>
        <p:spPr>
          <a:xfrm>
            <a:off x="1601575" y="3385781"/>
            <a:ext cx="358286" cy="338554"/>
          </a:xfrm>
          <a:prstGeom prst="ellipse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3" name="TextBox 102"/>
          <p:cNvSpPr txBox="1"/>
          <p:nvPr/>
        </p:nvSpPr>
        <p:spPr>
          <a:xfrm>
            <a:off x="2296823" y="3909060"/>
            <a:ext cx="389831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Segoe UI Symbol"/>
              </a:rPr>
              <a:t>◉</a:t>
            </a:r>
          </a:p>
        </p:txBody>
      </p:sp>
      <p:sp>
        <p:nvSpPr>
          <p:cNvPr id="104" name="Oval 103"/>
          <p:cNvSpPr/>
          <p:nvPr/>
        </p:nvSpPr>
        <p:spPr>
          <a:xfrm>
            <a:off x="1615833" y="3762577"/>
            <a:ext cx="334494" cy="338328"/>
          </a:xfrm>
          <a:prstGeom prst="ellipse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669147" y="3412273"/>
            <a:ext cx="237986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Segoe UI Symbol"/>
              </a:rPr>
              <a:t>⌁</a:t>
            </a:r>
            <a:endParaRPr sz="800" b="1" dirty="0">
              <a:solidFill>
                <a:srgbClr val="FFFFFF"/>
              </a:solidFill>
              <a:latin typeface="Segoe UI Symbol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1620996" y="4167161"/>
            <a:ext cx="338865" cy="363696"/>
          </a:xfrm>
          <a:prstGeom prst="ellipse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7" name="TextBox 106"/>
          <p:cNvSpPr txBox="1"/>
          <p:nvPr/>
        </p:nvSpPr>
        <p:spPr>
          <a:xfrm>
            <a:off x="1554480" y="3767977"/>
            <a:ext cx="43375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Segoe UI Symbol"/>
              </a:rPr>
              <a:t>◎</a:t>
            </a:r>
            <a:endParaRPr sz="800" b="1" dirty="0">
              <a:solidFill>
                <a:srgbClr val="FFFFFF"/>
              </a:solidFill>
              <a:latin typeface="Segoe UI Symbol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3645601" y="3426050"/>
            <a:ext cx="447322" cy="457199"/>
          </a:xfrm>
          <a:prstGeom prst="ellipse">
            <a:avLst/>
          </a:prstGeom>
          <a:solidFill>
            <a:srgbClr val="2878C8"/>
          </a:solidFill>
          <a:ln>
            <a:solidFill>
              <a:srgbClr val="28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3620235" y="3444304"/>
            <a:ext cx="509164" cy="4647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Segoe UI Symbol"/>
              </a:rPr>
              <a:t>⌁</a:t>
            </a:r>
          </a:p>
        </p:txBody>
      </p:sp>
      <p:sp>
        <p:nvSpPr>
          <p:cNvPr id="110" name="Oval 109"/>
          <p:cNvSpPr/>
          <p:nvPr/>
        </p:nvSpPr>
        <p:spPr>
          <a:xfrm>
            <a:off x="3674411" y="3997443"/>
            <a:ext cx="438912" cy="448057"/>
          </a:xfrm>
          <a:prstGeom prst="ellipse">
            <a:avLst/>
          </a:prstGeom>
          <a:solidFill>
            <a:srgbClr val="2878C8"/>
          </a:solidFill>
          <a:ln>
            <a:solidFill>
              <a:srgbClr val="28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647870" y="4021127"/>
            <a:ext cx="48152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Segoe UI Symbol"/>
              </a:rPr>
              <a:t>▣</a:t>
            </a:r>
            <a:endParaRPr sz="800" b="1" dirty="0">
              <a:solidFill>
                <a:srgbClr val="FFFFFF"/>
              </a:solidFill>
              <a:latin typeface="Segoe UI Symbol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6293690" y="3447190"/>
            <a:ext cx="485062" cy="457199"/>
          </a:xfrm>
          <a:prstGeom prst="ellipse">
            <a:avLst/>
          </a:prstGeom>
          <a:solidFill>
            <a:srgbClr val="2878C8"/>
          </a:solidFill>
          <a:ln>
            <a:solidFill>
              <a:srgbClr val="28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423659" y="3447395"/>
            <a:ext cx="192025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Segoe UI Symbol"/>
              </a:rPr>
              <a:t>●</a:t>
            </a:r>
            <a:endParaRPr sz="800" b="1" dirty="0">
              <a:solidFill>
                <a:srgbClr val="FFFFFF"/>
              </a:solidFill>
              <a:latin typeface="Segoe UI Symbol"/>
            </a:endParaRPr>
          </a:p>
        </p:txBody>
      </p:sp>
      <p:sp>
        <p:nvSpPr>
          <p:cNvPr id="116" name="Oval 115"/>
          <p:cNvSpPr/>
          <p:nvPr/>
        </p:nvSpPr>
        <p:spPr>
          <a:xfrm>
            <a:off x="7744475" y="3307719"/>
            <a:ext cx="507051" cy="457199"/>
          </a:xfrm>
          <a:prstGeom prst="ellipse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7855187" y="3307719"/>
            <a:ext cx="27088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Segoe UI Symbol"/>
              </a:rPr>
              <a:t>♙</a:t>
            </a:r>
            <a:endParaRPr sz="800" b="1" dirty="0">
              <a:solidFill>
                <a:srgbClr val="FFFFFF"/>
              </a:solidFill>
              <a:latin typeface="Segoe UI Symbol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7790688" y="3937550"/>
            <a:ext cx="501989" cy="487036"/>
          </a:xfrm>
          <a:prstGeom prst="ellipse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 flipH="1">
            <a:off x="7936786" y="3956347"/>
            <a:ext cx="173735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Segoe UI Symbol"/>
              </a:rPr>
              <a:t>⚿</a:t>
            </a:r>
            <a:endParaRPr sz="800" b="1" dirty="0">
              <a:solidFill>
                <a:srgbClr val="FFFFFF"/>
              </a:solidFill>
              <a:latin typeface="Segoe UI Symbol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10277856" y="3421958"/>
            <a:ext cx="527010" cy="561212"/>
          </a:xfrm>
          <a:prstGeom prst="ellipse">
            <a:avLst/>
          </a:prstGeom>
          <a:solidFill>
            <a:srgbClr val="6F42C1"/>
          </a:solidFill>
          <a:ln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10395178" y="3475885"/>
            <a:ext cx="32689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Segoe UI Symbol"/>
              </a:rPr>
              <a:t>◔</a:t>
            </a:r>
            <a:endParaRPr sz="800" b="1" dirty="0">
              <a:solidFill>
                <a:srgbClr val="FFFFFF"/>
              </a:solidFill>
              <a:latin typeface="Segoe UI Symbol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161555" y="3298972"/>
            <a:ext cx="43506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dirty="0">
                <a:solidFill>
                  <a:srgbClr val="2878C8"/>
                </a:solidFill>
                <a:latin typeface="Segoe UI Symbol"/>
              </a:rPr>
              <a:t>♙</a:t>
            </a:r>
            <a:endParaRPr sz="1800" b="1" dirty="0">
              <a:solidFill>
                <a:srgbClr val="2878C8"/>
              </a:solidFill>
              <a:latin typeface="Segoe UI Symbol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440526" y="3335778"/>
            <a:ext cx="444352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 dirty="0">
                <a:solidFill>
                  <a:srgbClr val="6F42C1"/>
                </a:solidFill>
                <a:latin typeface="Segoe UI Symbol"/>
              </a:rPr>
              <a:t>⚙</a:t>
            </a:r>
            <a:endParaRPr sz="1600" b="1" dirty="0">
              <a:solidFill>
                <a:srgbClr val="6F42C1"/>
              </a:solidFill>
              <a:latin typeface="Segoe UI Symbol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774060" y="3335327"/>
            <a:ext cx="492443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 dirty="0">
                <a:solidFill>
                  <a:srgbClr val="2E8B57"/>
                </a:solidFill>
                <a:latin typeface="Segoe UI Symbol"/>
              </a:rPr>
              <a:t>⚿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711196" y="5171079"/>
            <a:ext cx="548639" cy="800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 dirty="0">
                <a:solidFill>
                  <a:srgbClr val="2878C8"/>
                </a:solidFill>
                <a:latin typeface="Segoe UI Symbol"/>
              </a:rPr>
              <a:t>◇</a:t>
            </a:r>
            <a:endParaRPr lang="en-IN" sz="3200" b="1" dirty="0">
              <a:solidFill>
                <a:srgbClr val="2878C8"/>
              </a:solidFill>
              <a:latin typeface="Segoe UI Symbol"/>
            </a:endParaRPr>
          </a:p>
          <a:p>
            <a:pPr algn="ctr"/>
            <a:endParaRPr sz="1400" b="1" dirty="0">
              <a:solidFill>
                <a:srgbClr val="2878C8"/>
              </a:solidFill>
              <a:latin typeface="Segoe UI Symbol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4237997" y="5184648"/>
            <a:ext cx="595035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 dirty="0">
                <a:solidFill>
                  <a:srgbClr val="2E8B57"/>
                </a:solidFill>
                <a:latin typeface="Segoe UI Symbol"/>
              </a:rPr>
              <a:t>♙</a:t>
            </a:r>
            <a:endParaRPr b="1" dirty="0">
              <a:solidFill>
                <a:srgbClr val="2E8B57"/>
              </a:solidFill>
              <a:latin typeface="Segoe UI Symbol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5811994" y="5237279"/>
            <a:ext cx="415499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 dirty="0">
                <a:solidFill>
                  <a:srgbClr val="168C8C"/>
                </a:solidFill>
                <a:latin typeface="Segoe UI Symbol"/>
              </a:rPr>
              <a:t>✓</a:t>
            </a:r>
            <a:endParaRPr sz="1400" b="1" dirty="0">
              <a:solidFill>
                <a:srgbClr val="168C8C"/>
              </a:solidFill>
              <a:latin typeface="Segoe UI Symbol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7269209" y="5316879"/>
            <a:ext cx="494046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 dirty="0">
                <a:solidFill>
                  <a:srgbClr val="F28C28"/>
                </a:solidFill>
                <a:latin typeface="Segoe UI Symbol"/>
              </a:rPr>
              <a:t>▤</a:t>
            </a:r>
            <a:endParaRPr b="1" dirty="0">
              <a:solidFill>
                <a:srgbClr val="F28C28"/>
              </a:solidFill>
              <a:latin typeface="Segoe UI Symbol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8756100" y="5222600"/>
            <a:ext cx="444352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 dirty="0">
                <a:solidFill>
                  <a:srgbClr val="6F42C1"/>
                </a:solidFill>
                <a:latin typeface="Segoe UI Symbol"/>
              </a:rPr>
              <a:t>⚙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232025" y="5237772"/>
            <a:ext cx="449161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 dirty="0">
                <a:solidFill>
                  <a:srgbClr val="C92A5B"/>
                </a:solidFill>
                <a:latin typeface="Segoe UI Symbol"/>
              </a:rPr>
              <a:t>◉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4DE613F-C5F5-9B4A-6563-B718FF0E9AA8}"/>
              </a:ext>
            </a:extLst>
          </p:cNvPr>
          <p:cNvSpPr txBox="1"/>
          <p:nvPr/>
        </p:nvSpPr>
        <p:spPr>
          <a:xfrm>
            <a:off x="8173694" y="4013837"/>
            <a:ext cx="129325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IN" sz="1200" b="1" dirty="0">
                <a:solidFill>
                  <a:srgbClr val="263238"/>
                </a:solidFill>
                <a:latin typeface="Aptos"/>
              </a:rPr>
              <a:t>Encryption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9D450BA-9AF0-794F-AE76-C42BD40D34E5}"/>
              </a:ext>
            </a:extLst>
          </p:cNvPr>
          <p:cNvSpPr txBox="1"/>
          <p:nvPr/>
        </p:nvSpPr>
        <p:spPr>
          <a:xfrm>
            <a:off x="4142232" y="3977640"/>
            <a:ext cx="1252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rgbClr val="263238"/>
                </a:solidFill>
                <a:latin typeface="Aptos"/>
              </a:rPr>
              <a:t>Containers / Apps</a:t>
            </a:r>
            <a:endParaRPr lang="en-IN" sz="12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2DB6B34E-D1C0-A2FB-3B3D-5EF326097CC8}"/>
              </a:ext>
            </a:extLst>
          </p:cNvPr>
          <p:cNvSpPr txBox="1"/>
          <p:nvPr/>
        </p:nvSpPr>
        <p:spPr>
          <a:xfrm>
            <a:off x="2181740" y="3783004"/>
            <a:ext cx="652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DNS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E189EFB1-9C7A-CD02-009B-2CDAFB7EC894}"/>
              </a:ext>
            </a:extLst>
          </p:cNvPr>
          <p:cNvSpPr txBox="1"/>
          <p:nvPr/>
        </p:nvSpPr>
        <p:spPr>
          <a:xfrm>
            <a:off x="2171942" y="4087369"/>
            <a:ext cx="743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182</Words>
  <Application>Microsoft Office PowerPoint</Application>
  <PresentationFormat>Widescreen</PresentationFormat>
  <Paragraphs>80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Segoe UI Symbol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 SOMA SHANKAR REDDY</cp:lastModifiedBy>
  <cp:revision>3</cp:revision>
  <dcterms:created xsi:type="dcterms:W3CDTF">2013-01-27T09:14:16Z</dcterms:created>
  <dcterms:modified xsi:type="dcterms:W3CDTF">2026-08-14T08:44:53Z</dcterms:modified>
  <cp:category/>
</cp:coreProperties>
</file>